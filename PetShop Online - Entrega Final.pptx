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Medium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C890A1-05C2-4B81-92AB-20A5B185F5ED}">
  <a:tblStyle styleId="{80C890A1-05C2-4B81-92AB-20A5B185F5E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UrbanistMedium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bold.fntdata"/><Relationship Id="rId18" Type="http://schemas.openxmlformats.org/officeDocument/2006/relationships/font" Target="fonts/Urbanis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11" Type="http://schemas.openxmlformats.org/officeDocument/2006/relationships/image" Target="../media/image11.png"/><Relationship Id="rId10" Type="http://schemas.openxmlformats.org/officeDocument/2006/relationships/image" Target="../media/image1.png"/><Relationship Id="rId12" Type="http://schemas.openxmlformats.org/officeDocument/2006/relationships/image" Target="../media/image2.png"/><Relationship Id="rId9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9.png"/><Relationship Id="rId8" Type="http://schemas.openxmlformats.org/officeDocument/2006/relationships/image" Target="../media/image4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35.png"/><Relationship Id="rId7" Type="http://schemas.openxmlformats.org/officeDocument/2006/relationships/image" Target="../media/image31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10" Type="http://schemas.openxmlformats.org/officeDocument/2006/relationships/image" Target="../media/image36.png"/><Relationship Id="rId9" Type="http://schemas.openxmlformats.org/officeDocument/2006/relationships/image" Target="../media/image43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1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0.png"/><Relationship Id="rId5" Type="http://schemas.openxmlformats.org/officeDocument/2006/relationships/image" Target="../media/image45.png"/><Relationship Id="rId6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9" Type="http://schemas.openxmlformats.org/officeDocument/2006/relationships/image" Target="../media/image46.png"/><Relationship Id="rId5" Type="http://schemas.openxmlformats.org/officeDocument/2006/relationships/image" Target="../media/image49.png"/><Relationship Id="rId6" Type="http://schemas.openxmlformats.org/officeDocument/2006/relationships/image" Target="../media/image4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7775" y="814387"/>
            <a:ext cx="20764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005137"/>
            <a:ext cx="30480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3005137"/>
            <a:ext cx="30480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0500" y="3005137"/>
            <a:ext cx="30480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43187" y="325278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1687" y="325278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20187" y="325278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62250" y="339090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29325" y="33909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48775" y="3390900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3405663" y="1166812"/>
            <a:ext cx="53806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PetShop </a:t>
            </a:r>
            <a:r>
              <a:rPr b="0" i="0" lang="en-US" sz="60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Online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020615" y="2081212"/>
            <a:ext cx="615076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Escalabilidad, DevOps y Persistencia Avanzada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4195762" y="5329237"/>
            <a:ext cx="3800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Profesor: Leonardo Hernández Vera | Junio 23, 2026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517332" y="3824287"/>
            <a:ext cx="26803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Benjamín Campos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581150" y="4271962"/>
            <a:ext cx="2552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Backend &amp; Arquitectura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755832" y="3824287"/>
            <a:ext cx="26803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Lukas Alvarado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819650" y="4271962"/>
            <a:ext cx="2552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DBA &amp; Persistencia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7994332" y="3824287"/>
            <a:ext cx="26803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Felipe Valdés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8058150" y="4271962"/>
            <a:ext cx="2552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Frontend UI/UX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7450"/>
            <a:ext cx="355595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57450"/>
            <a:ext cx="355595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57450"/>
            <a:ext cx="355595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705100"/>
            <a:ext cx="7715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5600" y="2705100"/>
            <a:ext cx="571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2050" y="2705100"/>
            <a:ext cx="571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762000" y="476250"/>
            <a:ext cx="434054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Gestión de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Proyecto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571500" y="47625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819150" y="3057525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Versionamiento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19150" y="3505200"/>
            <a:ext cx="30606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Respaldo íntegro de la base Solemne 2 y etiquetado semántico mediante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Tag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v1.0.0. Garantía de rollback y trazabilidad de hitos.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4565600" y="3057525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Roles Expertice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565600" y="3505200"/>
            <a:ext cx="30606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Reasignación basada en fortalezas técnicas: Especialización en capas de Persistencia (DBA), Core Logic (Backend) y Reactividad (Frontend).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312050" y="3057525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Kanban Ágil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312050" y="3505200"/>
            <a:ext cx="30606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Gestión visual del flujo de trabajo en GitHub Projects. Columnas de revisión para asegurar la calidad de los merges hacia la rama QA.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14450"/>
            <a:ext cx="5286375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90800"/>
            <a:ext cx="5619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323975"/>
            <a:ext cx="526732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4803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10051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762000" y="476250"/>
            <a:ext cx="668083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Estrategia de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Ramas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(Git Flow)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71500" y="47625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571500" y="294322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Diferenciación de Entornos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71500" y="33147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Branch DEV: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Ciclo de vida rápido. Implementación de features unitarias y correcciones ágiles.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71500" y="4067175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Branch QA: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Entorno de estabilización. Pruebas de integración y simulación de fallos. Clonado final para despliegue.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5286375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14450"/>
            <a:ext cx="8953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885950"/>
            <a:ext cx="528637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381375"/>
            <a:ext cx="528637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876800"/>
            <a:ext cx="528637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1323975"/>
            <a:ext cx="526732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62000" y="476250"/>
            <a:ext cx="651081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Arquitectura de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Contenedores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47625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334125" y="16668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Orquestación con Compose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581775" y="2305050"/>
            <a:ext cx="4791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mysql-database: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Puerto 3307 mapeado para evitar colisiones locales. Persistencia de volumen configurada.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581775" y="3800475"/>
            <a:ext cx="4791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api-backend: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Spring Boot API en puerto 8080. Conexión interna vía red Docker.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581775" y="5295900"/>
            <a:ext cx="4791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web-frontend: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Servidor Nginx en puerto 4200. Servido de archivos estáticos optimizado.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28850"/>
            <a:ext cx="5286375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2466975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404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476250"/>
            <a:ext cx="591073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Resiliencia de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Enrutamiento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47625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571500" y="36099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Mitigación de Errores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4000500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Las aplicaciones SPA pierden referencia al recargar rutas profundas (F5). Implementamos una solución a nivel de servidor web para garantizar disponibilidad.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581775" y="2476500"/>
            <a:ext cx="503062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nginx.conf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581775" y="4248150"/>
            <a:ext cx="4791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Redirección inteligente: Cualquier ruta no encontrada físicamente es delegada al enrutador de Angular.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4100"/>
            <a:ext cx="11049000" cy="257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p18"/>
          <p:cNvGraphicFramePr/>
          <p:nvPr/>
        </p:nvGraphicFramePr>
        <p:xfrm>
          <a:off x="571500" y="2867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{80C890A1-05C2-4B81-92AB-20A5B185F5ED}</a:tableStyleId>
              </a:tblPr>
              <a:tblGrid>
                <a:gridCol w="1925675"/>
                <a:gridCol w="5573900"/>
                <a:gridCol w="3539875"/>
              </a:tblGrid>
              <a:tr h="5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Evolución Solemne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Tecnología / Método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Motor de 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Migración completa de PostgreSQL a MySQL 8.0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MySQL Connector/J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</a:tr>
              <a:tr h="5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Esquema DDL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Creación automática y transparente de tablas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Hibernate ddl-auto: update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</a:tr>
              <a:tr h="55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Carga DML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Inicialización de datos mediante data.sql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INSERT IGNORE (MySQL Std)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18"/>
          <p:cNvSpPr txBox="1"/>
          <p:nvPr/>
        </p:nvSpPr>
        <p:spPr>
          <a:xfrm>
            <a:off x="762000" y="476250"/>
            <a:ext cx="583072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Infraestructura de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Backend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47625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5286375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76462"/>
            <a:ext cx="571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881437"/>
            <a:ext cx="528637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1323975"/>
            <a:ext cx="526732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433863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762000" y="476250"/>
            <a:ext cx="523065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Ingeniería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Inversa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(MER)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571500" y="47625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334125" y="25288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Validación Física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334125" y="2919412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Uso de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MySQL Workbench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auditar la estructura generada por JPA/Hibernate. Validación de cardinalidades y restricciones de integridad en tiempo real.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581775" y="4300537"/>
            <a:ext cx="4791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Conexión establecida a través del túnel del puerto 3307 del contenedor.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8875"/>
            <a:ext cx="54292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428875"/>
            <a:ext cx="54292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676525"/>
            <a:ext cx="571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8900" y="2676525"/>
            <a:ext cx="6191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0289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38900" y="30289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7737" y="3167062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67487" y="3167062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762000" y="476250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Persistencia y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Auditoría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71500" y="47625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819150" y="3600450"/>
            <a:ext cx="51806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Estado Persistente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19150" y="4048125"/>
            <a:ext cx="4933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Las interacciones de compra y mensajes se guardan de forma definitiva en MySQL. El carrito sobrevive a reinicios de sesión.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438900" y="3600450"/>
            <a:ext cx="51806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Logging Estructurado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438900" y="4048125"/>
            <a:ext cx="4933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Implementación de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@Slf4j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Los eventos de negocio se graban en backend.log para auditoría de transacciones.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843212"/>
            <a:ext cx="5286375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47950"/>
            <a:ext cx="5905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/>
          <p:nvPr/>
        </p:nvSpPr>
        <p:spPr>
          <a:xfrm>
            <a:off x="6581775" y="4224337"/>
            <a:ext cx="4791075" cy="9525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2908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86262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62000" y="476250"/>
            <a:ext cx="501062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Resiliencia del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Frontend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47625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71500" y="30003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Manejo de Desconexión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71500" y="33909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sistema detecta proactivamente la indisponibilidad del backend. En lugar de fallar, degrada la experiencia de forma controlada.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581775" y="3090862"/>
            <a:ext cx="503062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Escenario Offline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581775" y="3538537"/>
            <a:ext cx="47910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"Servicio temporalmente no disponible. Estamos trabajando para volver pronto."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571500" y="4095750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Banner de mantenimiento amigable.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571500" y="43529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Botón de reintento de conexión.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5286375" cy="478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33637"/>
            <a:ext cx="8858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323975"/>
            <a:ext cx="526732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1908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38957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4125" y="4600575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762000" y="476250"/>
            <a:ext cx="6490811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UX Reactiva y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Angular Signals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71500" y="47625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6334125" y="27860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Optimización de Interfaz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334125" y="315753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Angular Signals: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Reactividad quirúrgica que elimina chequeos de cambios innecesarios.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334125" y="386238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Buscador Predictivo: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Filtrado dinámico mediante señales computadas.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334125" y="4567237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Selectores Inline: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Gestión de cantidades optimizada en el carrito.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6900"/>
            <a:ext cx="35559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866900"/>
            <a:ext cx="35559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866900"/>
            <a:ext cx="355595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762000" y="476250"/>
            <a:ext cx="554069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Conclusiones del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Proyecto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571500" y="476250"/>
            <a:ext cx="47625" cy="5524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295275" y="4486275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¿Preguntas?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571500" y="511492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Gracias por su atención. Presentación finalizada desde rama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QA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819150" y="2114550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Portabilidad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19150" y="2562225"/>
            <a:ext cx="30606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Docker eliminó el conflicto de entornos. La aplicación es desplegable en cualquier infraestructura con un solo comando.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4565600" y="2114550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Madurez Técnica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4565600" y="2562225"/>
            <a:ext cx="30606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transición a MySQL y el uso de Logs profesionales elevan el proyecto de un prototipo a un sistema auditable.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8312050" y="2114550"/>
            <a:ext cx="321368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Reactividad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8312050" y="2562225"/>
            <a:ext cx="30606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Angular Signals permitió una interfaz fluida, demostrando que la eficiencia en el frontend es clave para la retención del usuario.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